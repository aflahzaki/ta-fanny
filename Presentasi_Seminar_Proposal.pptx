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Segoe UI"/>
              </a:defRPr>
            </a:pPr>
            <a:r>
              <a:t>SEMINAR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PRESENTASI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Optimasi dan Interpretasi Prediksi Risiko Stroke Menggunakan Stacking Ensemble Learning dan SHAP pada Data Kesehatan Tidak Seimbang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C40F"/>
                </a:solidFill>
                <a:latin typeface="Segoe UI"/>
              </a:defRPr>
            </a:pPr>
            <a:r>
              <a:t>By: Stiefanny Dwi Chandra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Segoe UI"/>
              </a:defRPr>
            </a:pPr>
            <a:r>
              <a:t>Dosen Pembimbing: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FFFFF"/>
                </a:solidFill>
              </a:defRPr>
            </a:pPr>
            <a:r>
              <a:t>1. Nurul Ilmi, S.Kom., M.T.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FFFFF"/>
                </a:solidFill>
              </a:defRPr>
            </a:pPr>
            <a:r>
              <a:t>2. Achmad Udin Zailani, S.Kom., M.Kom.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NIM: 103062300102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FFFFF"/>
                </a:solidFill>
              </a:defRPr>
            </a:pPr>
            <a:r>
              <a:t>Program Studi: Teknologi Informasi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FFFFF"/>
                </a:solidFill>
              </a:defRPr>
            </a:pPr>
            <a:r>
              <a:t>Fakultas Informatika - Universitas Telkom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0000"/>
                </a:solidFill>
                <a:latin typeface="Segoe UI"/>
              </a:defRPr>
            </a:pPr>
            <a:r>
              <a:t>DAFTAR ISI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Segoe UI"/>
              </a:defRPr>
            </a:pPr>
            <a:r>
              <a:t>BAB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Segoe UI"/>
              </a:defRPr>
            </a:pPr>
            <a:r>
              <a:t>PENDAHULUAN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Segoe UI"/>
              </a:defRPr>
            </a:pPr>
            <a:r>
              <a:t>Latar Belakang, Rumusan Masalah, Tujuan, Kontribusi, Jadwal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73152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Segoe UI"/>
              </a:defRPr>
            </a:pPr>
            <a:r>
              <a:t>BAB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Segoe UI"/>
              </a:defRPr>
            </a:pPr>
            <a:r>
              <a:t>KAJIAN PUSTAKA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Segoe UI"/>
              </a:defRPr>
            </a:pPr>
            <a:r>
              <a:t>Penelitian Terdahulu, Posisi Penelitian, Landasan Teori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73152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Segoe UI"/>
              </a:defRPr>
            </a:pPr>
            <a:r>
              <a:t>BAB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Segoe UI"/>
              </a:defRPr>
            </a:pPr>
            <a:r>
              <a:t>PERANCANGAN SISTEM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Segoe UI"/>
              </a:defRPr>
            </a:pPr>
            <a:r>
              <a:t>Dataset, Desain Sistem, Skenario &amp; Alur (Fase 1-6)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212079"/>
            <a:ext cx="73152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48639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Segoe UI"/>
              </a:defRPr>
            </a:pPr>
            <a:r>
              <a:t>DAFTAR PUSTAKA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064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Segoe UI"/>
              </a:defRPr>
            </a:pPr>
            <a:r>
              <a:t>15 Referensi Ilmiah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Segoe UI"/>
              </a:defRPr>
            </a:pPr>
            <a:r>
              <a:t>BAB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PENDAHULUAN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C40F"/>
                </a:solidFill>
                <a:latin typeface="Segoe UI"/>
              </a:defRPr>
            </a:pPr>
            <a:r>
              <a:t>Optimasi dan Interpretasi Prediksi Risiko Stroke Menggunakan Stacking Ensemble Learning dan SHAP pada Data Kesehatan Tidak Seimbang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0000"/>
                </a:solidFill>
                <a:latin typeface="Segoe UI"/>
              </a:defRPr>
            </a:pPr>
            <a:r>
              <a:t>LATAR BELAKANG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22860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743200" cy="22860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0000"/>
                </a:solidFill>
                <a:latin typeface="Segoe UI"/>
              </a:defRPr>
            </a:pPr>
            <a:r>
              <a:t>Stroke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Penyebab kematian ke-2 dan</a:t>
            </a:r>
            <a:br/>
            <a:r>
              <a:t>disabilitas ke-3 secara global</a:t>
            </a:r>
            <a:br/>
            <a:r>
              <a:t>[Feigin et al., 2022]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188720"/>
            <a:ext cx="2743200" cy="22860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0000"/>
                </a:solidFill>
                <a:latin typeface="Segoe UI"/>
              </a:defRPr>
            </a:pPr>
            <a:r>
              <a:t>Data &amp;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Machine learning mampu</a:t>
            </a:r>
            <a:br/>
            <a:r>
              <a:t>mempelajari pola dari data</a:t>
            </a:r>
            <a:br/>
            <a:r>
              <a:t>kesehatan [Mridha et al., 2023]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88720"/>
            <a:ext cx="2743200" cy="22860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71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0000"/>
                </a:solidFill>
                <a:latin typeface="Segoe UI"/>
              </a:defRPr>
            </a:pPr>
            <a:r>
              <a:t>Permasalahan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Class Imbalance: 95.13% non-stroke</a:t>
            </a:r>
            <a:br/>
            <a:r>
              <a:t>vs 4.87% stroke menyebabkan</a:t>
            </a:r>
            <a:br/>
            <a:r>
              <a:t>model bias [Salmi et al., 2024]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188720"/>
            <a:ext cx="2743200" cy="22860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371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Segoe UI"/>
              </a:defRPr>
            </a:pPr>
            <a:r>
              <a:t>Solusi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8288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Stacking Ensemble + Pipeline</a:t>
            </a:r>
            <a:br/>
            <a:r>
              <a:t>SMOTE + Threshold F2-Score</a:t>
            </a:r>
            <a:br/>
            <a:r>
              <a:t>+ SHAP Dua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0000"/>
                </a:solidFill>
                <a:latin typeface="Segoe UI"/>
              </a:defRPr>
            </a:pPr>
            <a:r>
              <a:t>3 Solusi Terintegrasi: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2C3E50"/>
                </a:solidFill>
              </a:defRPr>
            </a:pPr>
            <a:r>
              <a:t>1. Stacking Ensemble (XGBoost + LightGBM + CatBoost + Logistic Regression) [James et al., 2024; Abdelsamie, 2026]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2C3E50"/>
                </a:solidFill>
              </a:defRPr>
            </a:pPr>
            <a:r>
              <a:t>2. Pipeline SMOTE + Threshold Optimization F2-Score (Zero Data Leakage) [Chawla et al., 2011; Barman et al., 2025]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2C3E50"/>
                </a:solidFill>
              </a:defRPr>
            </a:pPr>
            <a:r>
              <a:t>3. Explainable AI: SHAP Dua Level (Algoritmik + Klinis) [Kaya et al., 2026; Agrawal &amp; Sharma, 2024]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0000"/>
                </a:solidFill>
                <a:latin typeface="Segoe UI"/>
              </a:defRPr>
            </a:pPr>
            <a:r>
              <a:t>RUMUSAN MASALAH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27432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34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Segoe UI"/>
              </a:defRPr>
            </a:pPr>
            <a:r>
              <a:t>Bagaimana membangun model prediksi stroke menggunakan metode Stacking Ensemble yang terjamin zero-leakage dan membandingkan performanya dengan Random Forest?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301752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Segoe UI"/>
              </a:defRPr>
            </a:pPr>
            <a:r>
              <a:t>Bagaimana pengaruh integrasi Pipeline SMOTE dan Threshold Optimization berbasis F2-Score dalam mengatasi class imbalance dan meningkatkan deteksi kelas minoritas?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484632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937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892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Segoe UI"/>
              </a:defRPr>
            </a:pPr>
            <a:r>
              <a:t>Bagaimana menguraikan kontribusi fitur klinis dan kontribusi algoritmik menggunakan metode SHAP dua level (Meta-Learner &amp; Model Dominan)?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0000"/>
                </a:solidFill>
                <a:latin typeface="Segoe UI"/>
              </a:defRPr>
            </a:pPr>
            <a:r>
              <a:t>TUJUAN PENELITIAN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27432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4864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Segoe UI"/>
              </a:defRPr>
            </a:pPr>
            <a:r>
              <a:t>01.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Membangun dan mengevaluasi arsitektur Stacking Ensemble yang bebas kebocoran data (zero-leakage) serta membandingkan signifikansi performanya terhadap model baseline (Random Forest).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54864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Segoe UI"/>
              </a:defRPr>
            </a:pPr>
            <a:r>
              <a:t>02.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Menganalisis efektivitas penerapan Pipeline SMOTE dan Threshold Optimization berbasis F2-Score dalam meminimalkan kegagalan deteksi (False Negative), serta mengevaluasi trade-off antara Recall dan Precision.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754880"/>
            <a:ext cx="54864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Segoe UI"/>
              </a:defRPr>
            </a:pPr>
            <a:r>
              <a:t>03.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Menjelaskan faktor-faktor yang memengaruhi hasil prediksi secara hierarkis menggunakan metode SHAP dua level, baik dari segi kontribusi algoritma pembentuk maupun faktor klinis pasien.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0000"/>
                </a:solidFill>
                <a:latin typeface="Segoe UI"/>
              </a:defRPr>
            </a:pPr>
            <a:r>
              <a:t>KONTRIBUSI PENELITIAN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32004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0972800" cy="1005840"/>
          </a:xfrm>
          <a:prstGeom prst="roundRect">
            <a:avLst/>
          </a:prstGeom>
          <a:solidFill>
            <a:srgbClr val="ECF0F1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Segoe UI"/>
              </a:defRPr>
            </a:pPr>
            <a:r>
              <a:t>01.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Segoe UI"/>
              </a:defRPr>
            </a:pPr>
            <a:r>
              <a:t>Penerapan Stacking Ensemble Learning untuk prediksi stroke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10972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Segoe UI"/>
              </a:defRPr>
            </a:pPr>
            <a:r>
              <a:t>02.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97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Segoe UI"/>
              </a:defRPr>
            </a:pPr>
            <a:r>
              <a:t>Penanganan class imbalance (SMOTE dalam Pipeline) untuk meningkatkan performa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10972800" cy="1005840"/>
          </a:xfrm>
          <a:prstGeom prst="roundRect">
            <a:avLst/>
          </a:prstGeom>
          <a:solidFill>
            <a:srgbClr val="ECF0F1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8619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Segoe UI"/>
              </a:defRPr>
            </a:pPr>
            <a:r>
              <a:t>03.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77639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Segoe UI"/>
              </a:defRPr>
            </a:pPr>
            <a:r>
              <a:t>Optimasi model dengan fokus pada F2-Score (meminimalkan False Negative)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029199"/>
            <a:ext cx="10972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16635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Segoe UI"/>
              </a:defRPr>
            </a:pPr>
            <a:r>
              <a:t>04.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257799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Segoe UI"/>
              </a:defRPr>
            </a:pPr>
            <a:r>
              <a:t>Interpretasi model menggunakan SHAP: insight faktor-faktor yang mempengaruhi risiko stroke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0000"/>
                </a:solidFill>
                <a:latin typeface="Segoe UI"/>
              </a:defRPr>
            </a:pPr>
            <a:r>
              <a:t>JADWAL PENELITIAN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27432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10058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  <a:latin typeface="Segoe UI"/>
              </a:defRPr>
            </a:pPr>
            <a:r>
              <a:t>Bln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10058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  <a:latin typeface="Segoe UI"/>
              </a:defRPr>
            </a:pPr>
            <a:r>
              <a:t>Bln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0058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  <a:latin typeface="Segoe UI"/>
              </a:defRPr>
            </a:pPr>
            <a:r>
              <a:t>Bln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10058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  <a:latin typeface="Segoe UI"/>
              </a:defRPr>
            </a:pPr>
            <a:r>
              <a:t>Bln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10058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  <a:latin typeface="Segoe UI"/>
              </a:defRPr>
            </a:pPr>
            <a:r>
              <a:t>Bln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1. Studi Literatur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463040"/>
            <a:ext cx="1005840" cy="3657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0" y="1463040"/>
            <a:ext cx="1005840" cy="3657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57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2. EDA (Exploratory Data Analysis)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103120"/>
            <a:ext cx="1005840" cy="3657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3. Persiapan Data (Data Preparation)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2743200"/>
            <a:ext cx="1005840" cy="3657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3755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4. Pengembangan Model (Model Development)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3383279"/>
            <a:ext cx="1005840" cy="3657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0" y="3383279"/>
            <a:ext cx="1005840" cy="3657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77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5. Optimasi Threshold &amp; Evaluasi 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4023360"/>
            <a:ext cx="1005840" cy="3657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01200" y="4023360"/>
            <a:ext cx="1005840" cy="3657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617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6. Pengujian Hold-Out Test Set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4663440"/>
            <a:ext cx="1005840" cy="3657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25779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7. Explainable AI (SHAP)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5303519"/>
            <a:ext cx="1005840" cy="3657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789920" y="5303519"/>
            <a:ext cx="1005840" cy="3657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89787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8. Analisis Hasil &amp; Penyusunan Laporan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89920" y="5943599"/>
            <a:ext cx="1005840" cy="3657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</a:defRPr>
            </a:pPr>
            <a:r>
              <a:t>BAB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KAJIAN PUSTAKA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C40F"/>
                </a:solidFill>
              </a:defRPr>
            </a:pPr>
            <a:r>
              <a:t>Penelitian Terdahulu, Posisi Penelitian (Research Gap), dan Landasan Teori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0000"/>
                </a:solidFill>
              </a:defRPr>
            </a:pPr>
            <a:r>
              <a:t>PENELITIAN TERDAHULU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32004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[1] Faria et al. (2024) - Stroke Detection Through Ensemble Learning: A Stacking Approach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Kelebihan: Stacking mampu mengungguli classifier tunggal pada prediksi stroke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C0392B"/>
                </a:solidFill>
              </a:defRPr>
            </a:pPr>
            <a:r>
              <a:t>Gap: Belum menerapkan XAI, threshold tuning, dan rentan data leakage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7F8C8D"/>
                </a:solidFill>
              </a:defRPr>
            </a:pPr>
            <a:r>
              <a:t>Kutipan: "Stacked ensemble techniques have demonstrated superior performance compared to individual models."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[6] Ozkara et al. (2023) - Prediction of Functional Outcome in Stroke Patients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Kelebihan: Menunjukkan pentingnya preprocessing dalam meningkatkan performa model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C0392B"/>
                </a:solidFill>
              </a:defRPr>
            </a:pPr>
            <a:r>
              <a:t>Gap: Fokus pada akurasi, belum menangani class imbalance dan threshold 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[8] James et al. (2024) - Enhancing Stroke Prediction: Leveraging Ensemble Learning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Kelebihan: Ensemble terbukti efektif untuk klasifikasi stroke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C0392B"/>
                </a:solidFill>
              </a:defRPr>
            </a:pPr>
            <a:r>
              <a:t>Gap: Belum mengintegrasikan zero-leakage pipeline dan interpretabilitas SHAP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0000"/>
                </a:solidFill>
              </a:defRPr>
            </a:pPr>
            <a:r>
              <a:t>PENELITIAN TERDAHULU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32004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[10] Barman et al. (2025) - Robust Brain Stroke Prediction via Ensemble ML with Class Imbalance Handling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Kelebihan: Mengkombinasikan ensemble + class imbalance handling + threshold tuning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C0392B"/>
                </a:solidFill>
              </a:defRPr>
            </a:pPr>
            <a:r>
              <a:t>Gap: Belum mengeksplorasi penerapan SHAP pada arsitektur stacking 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[13] Abousaber (2025) - Explainable Attention-Based Meta-Learning for Imbalanced Brain Stroke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Kelebihan: Menekankan pentingnya XAI dalam sistem prediksi stroke yang imbalanced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C0392B"/>
                </a:solidFill>
              </a:defRPr>
            </a:pPr>
            <a:r>
              <a:t>Gap: Menggunakan deep learning (tidak cocok untuk data tabular kecil ~5K)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[11] Tahyudin et al. (2024) - Optimizing Stroke Mortality Prediction: Hyperparameter Tuning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Kelebihan: Membuktikan signifikansi hyperparameter tuning pada prediksi stroke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C0392B"/>
                </a:solidFill>
              </a:defRPr>
            </a:pPr>
            <a:r>
              <a:t>Gap: Tidak menggunakan stacking dan belum menerapkan threshold optimization F2-Score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0000"/>
                </a:solidFill>
              </a:defRPr>
            </a:pPr>
            <a:r>
              <a:t>PENELITIAN TERDAHULU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32004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[12] Kaya et al. (2026) - Explainable AI (XAI): Concepts, Applications, Challenges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Kelebihan: Review komprehensif tentang XAI termasuk SHAP dalam berbagai domain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C0392B"/>
                </a:solidFill>
              </a:defRPr>
            </a:pPr>
            <a:r>
              <a:t>Gap: Bersifat review umum, belum diimplementasikan pada arsitektur stacking stroke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[14] Chawla et al. (2011) - SMOTE: Synthetic Minority Over-sampling Technique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Kelebihan: Metode fundamental untuk menangani class imbalance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Kontribusi: Menjadi dasar implementasi SMOTE di dalam Pipeline pelatihan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389120"/>
            <a:ext cx="10972800" cy="2011680"/>
          </a:xfrm>
          <a:prstGeom prst="roundRect">
            <a:avLst/>
          </a:prstGeom>
          <a:solidFill>
            <a:srgbClr val="FDEDEC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0000"/>
                </a:solidFill>
              </a:defRPr>
            </a:pPr>
            <a:r>
              <a:t>Kesimpulan Analisis Penelitian Terdahulu: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- Stacking Ensemble terbukti efektif pada stroke [1][8][10]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- Penanganan imbalance belum terisolasi dari leakage [6][8]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- Threshold default 0,5 masih digunakan [1][6][11]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- SHAP belum diterapkan pada arsitektur stacking [10][13]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39C12"/>
                </a:solidFill>
              </a:defRPr>
            </a:pPr>
            <a:r>
              <a:t>POSISI PENELITIAN (RESEARCH GAP)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515600" cy="1463040"/>
          </a:xfrm>
          <a:prstGeom prst="roundRect">
            <a:avLst/>
          </a:prstGeom>
          <a:solidFill>
            <a:srgbClr val="5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783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Zero Leakage SMOTE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945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SMOTE diisolasi di dalam Pipeline pelatihan agar data testing tetap steril dan evaluasi valid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383280"/>
            <a:ext cx="10515600" cy="1463040"/>
          </a:xfrm>
          <a:prstGeom prst="roundRect">
            <a:avLst/>
          </a:prstGeom>
          <a:solidFill>
            <a:srgbClr val="5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20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520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F2-Score Threshold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9319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Ambang batas dicari secara matematis menggunakan F2-Score untuk meminimalkan False Negative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120640"/>
            <a:ext cx="10515600" cy="1463040"/>
          </a:xfrm>
          <a:prstGeom prst="roundRect">
            <a:avLst/>
          </a:prstGeom>
          <a:solidFill>
            <a:srgbClr val="5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257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257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Two-Level SHAP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669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Layer 1: Validasi Algoritmik (Meta-Learner)</a:t>
            </a:r>
            <a:br/>
            <a:r>
              <a:t>Layer 2: Validasi Klinis (Global &amp; Lokal)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</a:defRPr>
            </a:pPr>
            <a:r>
              <a:t>BAB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LANDASAN TEORI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0000"/>
                </a:solidFill>
              </a:defRPr>
            </a:pPr>
            <a:r>
              <a:t>LANDASAN TEORI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27432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486400" cy="2560320"/>
          </a:xfrm>
          <a:prstGeom prst="roundRect">
            <a:avLst/>
          </a:prstGeom>
          <a:solidFill>
            <a:srgbClr val="ECF0F1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Imbalanced Data &amp; Stroke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Data stroke didominasi kelas sehat.</a:t>
            </a:r>
            <a:br/>
            <a:r>
              <a:t>Pemodelan konvensional bias &amp; gagal</a:t>
            </a:r>
            <a:br/>
            <a:r>
              <a:t>mendeteksi pasien berisiko.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</a:defRPr>
            </a:pPr>
            <a:r>
              <a:t>(Salmi et al., 2024)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05840"/>
            <a:ext cx="5486400" cy="2560320"/>
          </a:xfrm>
          <a:prstGeom prst="roundRect">
            <a:avLst/>
          </a:prstGeom>
          <a:solidFill>
            <a:srgbClr val="ECF0F1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SMOTE &amp; Zero-Leakage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Oversampling HARUS di dalam Pipeline.</a:t>
            </a:r>
            <a:br/>
            <a:r>
              <a:t>Jika tidak: data leakage = evaluasi</a:t>
            </a:r>
            <a:br/>
            <a:r>
              <a:t>palsu &amp; tidak bisa digeneralisasi.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017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</a:defRPr>
            </a:pPr>
            <a:r>
              <a:t>(Chawla et al.; van de Mortel, 2025)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5486400" cy="2560320"/>
          </a:xfrm>
          <a:prstGeom prst="roundRect">
            <a:avLst/>
          </a:prstGeom>
          <a:solidFill>
            <a:srgbClr val="ECF0F1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Pipeline 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Imputasi median + StandardScaler +</a:t>
            </a:r>
            <a:br/>
            <a:r>
              <a:t>One-Hot Encoding. Diterapkan ketat</a:t>
            </a:r>
            <a:br/>
            <a:r>
              <a:t>di setiap fold CV.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52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</a:defRPr>
            </a:pPr>
            <a:r>
              <a:t>(van de Mortel &amp; van Wingen, 2025)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486400" cy="2560320"/>
          </a:xfrm>
          <a:prstGeom prst="roundRect">
            <a:avLst/>
          </a:prstGeom>
          <a:solidFill>
            <a:srgbClr val="ECF0F1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Random Forest (Baseline)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4805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Tree-based ensemble klasik sebagai</a:t>
            </a:r>
            <a:br/>
            <a:r>
              <a:t>tolok ukur. Stabil pada data tabular.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852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</a:defRPr>
            </a:pPr>
            <a:r>
              <a:t>(Mashi et al., 2024)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0000"/>
                </a:solidFill>
              </a:defRPr>
            </a:pPr>
            <a:r>
              <a:t>LANDASAN TEORI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27432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486400" cy="2560320"/>
          </a:xfrm>
          <a:prstGeom prst="roundRect">
            <a:avLst/>
          </a:prstGeom>
          <a:solidFill>
            <a:srgbClr val="ECF0F1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Gradient Boosting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XGBoost + LightGBM + CatBoost</a:t>
            </a:r>
            <a:br/>
            <a:r>
              <a:t>Tree-based &gt; Deep Learning</a:t>
            </a:r>
            <a:br/>
            <a:r>
              <a:t>pada data tabular klinis ~10K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</a:defRPr>
            </a:pPr>
            <a:r>
              <a:t>(Grinsztajn et al., 2022)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05840"/>
            <a:ext cx="5486400" cy="2560320"/>
          </a:xfrm>
          <a:prstGeom prst="roundRect">
            <a:avLst/>
          </a:prstGeom>
          <a:solidFill>
            <a:srgbClr val="ECF0F1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Stacking Ensemble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Agregasi probabilitas base learners</a:t>
            </a:r>
            <a:br/>
            <a:r>
              <a:t>melalui meta-learner. Lebih stabil</a:t>
            </a:r>
            <a:br/>
            <a:r>
              <a:t>dan akurat dari model tunggal.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017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</a:defRPr>
            </a:pPr>
            <a:r>
              <a:t>(Faria et al., 2024; Zian et al., 2021)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5486400" cy="2560320"/>
          </a:xfrm>
          <a:prstGeom prst="roundRect">
            <a:avLst/>
          </a:prstGeom>
          <a:solidFill>
            <a:srgbClr val="ECF0F1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Optimasi Threshold &amp; F2-Score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Cost-sensitive: geser threshold dari</a:t>
            </a:r>
            <a:br/>
            <a:r>
              <a:t>0.5 ke titik optimal F2-Score.</a:t>
            </a:r>
            <a:br/>
            <a:r>
              <a:t>Minimalkan False Negative klinis.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52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</a:defRPr>
            </a:pPr>
            <a:r>
              <a:t>(Zhang et al.; Araf et al., 2024)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486400" cy="2560320"/>
          </a:xfrm>
          <a:prstGeom prst="roundRect">
            <a:avLst/>
          </a:prstGeom>
          <a:solidFill>
            <a:srgbClr val="ECF0F1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Explainable AI (SHAP)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4805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Membongkar black-box model.</a:t>
            </a:r>
            <a:br/>
            <a:r>
              <a:t>Transparansi ganda: algoritmik</a:t>
            </a:r>
            <a:br/>
            <a:r>
              <a:t>dan klinis per individu pasien.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852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</a:defRPr>
            </a:pPr>
            <a:r>
              <a:t>(Moulaei et al., 2024; Lu &amp; Qiu, 2023)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</a:defRPr>
            </a:pPr>
            <a:r>
              <a:t>BAB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PERANCANGAN 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C40F"/>
                </a:solidFill>
              </a:defRPr>
            </a:pPr>
            <a:r>
              <a:t>Dataset, Desain Sistem, dan Skenario Alur Sistem Prediksi (6 Fase)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0000"/>
                </a:solidFill>
              </a:defRPr>
            </a:pPr>
            <a:r>
              <a:t>DATASET DAN KETIMPANGAN KELAS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27432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</a:defRPr>
            </a:pPr>
            <a:r>
              <a:t>Jenis dan Sumber Data</a:t>
            </a:r>
          </a:p>
          <a:p>
            <a:pPr>
              <a:spcBef>
                <a:spcPts val="400"/>
              </a:spcBef>
              <a:defRPr sz="1200" b="0">
                <a:solidFill>
                  <a:srgbClr val="2C3E50"/>
                </a:solidFill>
              </a:defRPr>
            </a:pPr>
            <a:r>
              <a:t>Sumber: Kaggle - Fedesoriano Stroke Prediction Dataset</a:t>
            </a:r>
          </a:p>
          <a:p>
            <a:pPr>
              <a:spcBef>
                <a:spcPts val="400"/>
              </a:spcBef>
              <a:defRPr sz="1200" b="0">
                <a:solidFill>
                  <a:srgbClr val="2C3E50"/>
                </a:solidFill>
              </a:defRPr>
            </a:pPr>
            <a:r>
              <a:t>Total Rekam Medis: 5.110 baris observasi</a:t>
            </a:r>
          </a:p>
          <a:p>
            <a:pPr>
              <a:spcBef>
                <a:spcPts val="400"/>
              </a:spcBef>
              <a:defRPr sz="1200" b="0">
                <a:solidFill>
                  <a:srgbClr val="2C3E50"/>
                </a:solidFill>
              </a:defRPr>
            </a:pPr>
            <a:r>
              <a:t>Kelas Mayoritas: 4.861 pasien sehat (95.13%)</a:t>
            </a:r>
          </a:p>
          <a:p>
            <a:pPr>
              <a:spcBef>
                <a:spcPts val="400"/>
              </a:spcBef>
              <a:defRPr sz="1200" b="1">
                <a:solidFill>
                  <a:srgbClr val="C0392B"/>
                </a:solidFill>
              </a:defRPr>
            </a:pPr>
            <a:r>
              <a:t>Kelas Minoritas: 249 pasien stroke (4.87%)</a:t>
            </a:r>
          </a:p>
          <a:p>
            <a:pPr>
              <a:spcBef>
                <a:spcPts val="400"/>
              </a:spcBef>
              <a:defRPr sz="1100" b="0">
                <a:solidFill>
                  <a:srgbClr val="7F8C8D"/>
                </a:solidFill>
              </a:defRPr>
            </a:pPr>
            <a:r>
              <a:t>Validasi: Digunakan oleh James et al. [8] dan Barman et al. [10]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457200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508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Non-Stroke: 95.13%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468880"/>
            <a:ext cx="22860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606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</a:defRPr>
            </a:pPr>
            <a:r>
              <a:t>Stroke: 4.87%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</a:defRPr>
            </a:pPr>
            <a:r>
              <a:t>Metode Penelitian</a:t>
            </a:r>
          </a:p>
          <a:p>
            <a:pPr>
              <a:spcBef>
                <a:spcPts val="400"/>
              </a:spcBef>
              <a:defRPr sz="1200" b="0">
                <a:solidFill>
                  <a:srgbClr val="2C3E50"/>
                </a:solidFill>
              </a:defRPr>
            </a:pPr>
            <a:r>
              <a:t>Pendekatan: Kuantitatif dengan metode Eksperimen</a:t>
            </a:r>
          </a:p>
          <a:p>
            <a:pPr>
              <a:spcBef>
                <a:spcPts val="400"/>
              </a:spcBef>
              <a:defRPr sz="1200" b="0">
                <a:solidFill>
                  <a:srgbClr val="2C3E50"/>
                </a:solidFill>
              </a:defRPr>
            </a:pPr>
            <a:r>
              <a:t>Tahapan: EDA &gt; Data Preparation &gt; Model Development &gt; Threshold Optimization &gt; Testing &gt; SHAP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0000"/>
                </a:solidFill>
              </a:defRPr>
            </a:pPr>
            <a:r>
              <a:t>DESAIN SISTEM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27432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1737360" cy="18288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0392B"/>
                </a:solidFill>
              </a:defRPr>
            </a:pPr>
            <a:r>
              <a:t>Fase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EDA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39C12"/>
                </a:solidFill>
              </a:defRPr>
            </a:pPr>
            <a: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286000"/>
            <a:ext cx="1737360" cy="18288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2560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0392B"/>
                </a:solidFill>
              </a:defRPr>
            </a:pPr>
            <a:r>
              <a:t>Fase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0175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Data Prep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39C12"/>
                </a:solidFill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286000"/>
            <a:ext cx="1737360" cy="18288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560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9C12"/>
                </a:solidFill>
              </a:defRPr>
            </a:pPr>
            <a:r>
              <a:t>Fase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0175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Model Dev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39C12"/>
                </a:solidFill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286000"/>
            <a:ext cx="1737360" cy="18288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560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9C12"/>
                </a:solidFill>
              </a:defRPr>
            </a:pPr>
            <a:r>
              <a:t>Fase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0175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39C12"/>
                </a:solidFill>
              </a:defRPr>
            </a:pPr>
            <a: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286000"/>
            <a:ext cx="1737360" cy="18288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560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0392B"/>
                </a:solidFill>
              </a:defRPr>
            </a:pPr>
            <a:r>
              <a:t>Fase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0175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39C12"/>
                </a:solidFill>
              </a:defRPr>
            </a:pPr>
            <a: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2286000"/>
            <a:ext cx="1737360" cy="18288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2560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9C12"/>
                </a:solidFill>
              </a:defRPr>
            </a:pPr>
            <a:r>
              <a:t>Fase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30175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SHAP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54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</a:defRPr>
            </a:pPr>
            <a:r>
              <a:t>Fokus utama: Zero data leakage + Optimasi sensitivitas + Transparansi keputusan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0000"/>
                </a:solidFill>
              </a:defRPr>
            </a:pPr>
            <a:r>
              <a:t>SKENARIO &amp; ALUR SISTEM PREDIKSI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27432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0972800" cy="731520"/>
          </a:xfrm>
          <a:prstGeom prst="roundRect">
            <a:avLst/>
          </a:prstGeom>
          <a:solidFill>
            <a:srgbClr val="ECF0F1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18872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34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Fase 1: Eksplorasi dan Pemahaman Dataset (EDA)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0972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48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Fase 2: Persiapan Data (Data Preparation)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10972800" cy="731520"/>
          </a:xfrm>
          <a:prstGeom prst="roundRect">
            <a:avLst/>
          </a:prstGeom>
          <a:solidFill>
            <a:srgbClr val="ECF0F1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632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63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Fase 3: Pengembangan Model Prediksi (Model Development)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10972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9776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776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Fase 4: Threshold Optimization dan Evaluasi 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754880"/>
            <a:ext cx="10972800" cy="731520"/>
          </a:xfrm>
          <a:prstGeom prst="roundRect">
            <a:avLst/>
          </a:prstGeom>
          <a:solidFill>
            <a:srgbClr val="ECF0F1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484632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8920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892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Fase 5: Pengujian pada Hold-Out Test Set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669280"/>
            <a:ext cx="10972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" y="576072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8064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806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Fase 6: Explainable Artificial Intelligence (SHAP)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0000"/>
                </a:solidFill>
              </a:defRPr>
            </a:pPr>
            <a:r>
              <a:t>FASE 1: EKSPLORASI DAN PEMAHAMAN DATASET (EDA)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27432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0972800" cy="1188720"/>
          </a:xfrm>
          <a:prstGeom prst="roundRect">
            <a:avLst/>
          </a:prstGeom>
          <a:solidFill>
            <a:srgbClr val="ECF0F1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Identifikasi Struktur Data &amp; Pemilahan Fitur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Numerik: age, avg_glucose_level, bmi | Kategorikal: gender, smoking_status, work_type, dll.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Analisis Ketimpangan Kelas (Class Imbalance)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Validasi empiris rasio 95:5. Justifikasi mengapa Akurasi konvensional tidak bisa diandalkan.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10972800" cy="1188720"/>
          </a:xfrm>
          <a:prstGeom prst="roundRect">
            <a:avLst/>
          </a:prstGeom>
          <a:solidFill>
            <a:srgbClr val="ECF0F1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Cek Missing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Fitur BMI memiliki nilai kosong. Imputasi median (bukan mean) karena distribusi rentan outlier.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21208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Visualisasi EDA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Distribusi fitur, korelasi, dan pola kelas untuk memahami karakteristik data sebelum pemodelan.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0000"/>
                </a:solidFill>
              </a:defRPr>
            </a:pPr>
            <a:r>
              <a:t>FASE 2: PERSIAPAN DATA (DATA PREPARATION)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27432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0972800" cy="1188720"/>
          </a:xfrm>
          <a:prstGeom prst="roundRect">
            <a:avLst/>
          </a:prstGeom>
          <a:solidFill>
            <a:srgbClr val="ECF0F1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Stratified Data Splitting (80:20)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Training 80% | Testing 20%. Stratified menjaga rasio kelas. Data testing DIISOLASI sepenuhnya.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Pipeline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Imputasi Median + StandardScaler + One-Hot Encoding. Terintegrasi dalam satu jalur.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10972800" cy="1188720"/>
          </a:xfrm>
          <a:prstGeom prst="roundRect">
            <a:avLst/>
          </a:prstGeom>
          <a:solidFill>
            <a:srgbClr val="ECF0F1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SMOTE Inside Pipeline (KUNCI!)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SMOTE HANYA dieksekusi pada training fold. Data testing TIDAK PERNAH tersentuh SMOTE. [Chawla et al.]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21208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Zero-Leakage Guarantee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"Oversampling sebelum train-test split = evaluasi palsu" (Salmi et al., 2024; van de Mortel, 2025)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0000"/>
                </a:solidFill>
              </a:defRPr>
            </a:pPr>
            <a:r>
              <a:t>FASE 3: PENGEMBANGAN MODEL PREDIKSI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27432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0972800" cy="1188720"/>
          </a:xfrm>
          <a:prstGeom prst="roundRect">
            <a:avLst/>
          </a:prstGeom>
          <a:solidFill>
            <a:srgbClr val="ECF0F1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Baseline: Random Forest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Tree-based ensemble sebagai tolok ukur awal. Stabil pada data tabular [Grinsztajn et al., 2022].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Base Learners: XGBoost + LightGBM + CatBoost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3 Gradient Boosting. Tuning: RandomizedSearchCV, objective = F2-Score. [Chen 2016; Ke 2017; Prokhorenkova 2017]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10972800" cy="1188720"/>
          </a:xfrm>
          <a:prstGeom prst="roundRect">
            <a:avLst/>
          </a:prstGeom>
          <a:solidFill>
            <a:srgbClr val="ECF0F1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Stacking Ensemble (Out-of-Fold)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Base learners &gt; probabilitas OOF via Stratified K-Fold &gt; fitur baru untuk meta-learner [Zian et al., 2021].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21208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Meta-Learner: Logistic Regression + Class 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Linear, anti-overfitting, class weight untuk penalti lebih besar pada kegagalan deteksi stroke.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0000"/>
                </a:solidFill>
              </a:defRPr>
            </a:pPr>
            <a:r>
              <a:t>FASE 4: THRESHOLD OPTIMIZATION &amp; EVALUASI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27432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0972800" cy="1188720"/>
          </a:xfrm>
          <a:prstGeom prst="roundRect">
            <a:avLst/>
          </a:prstGeom>
          <a:solidFill>
            <a:srgbClr val="ECF0F1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Probabilitas OOF (Stratified K-Fold CV)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Menghasilkan prediksi probabilitas silang sebagai acuan perhitungan threshold.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Threshold Optimization (F2-Score)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Default 0.5 = FATAL pada data imbalanced [Zhang et al.]. Dicari titik optimal via maksimasi F2-Score.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10972800" cy="1188720"/>
          </a:xfrm>
          <a:prstGeom prst="roundRect">
            <a:avLst/>
          </a:prstGeom>
          <a:solidFill>
            <a:srgbClr val="ECF0F1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Evaluasi: Repeated Stratified K-Fold CV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5-fold x 3 repetisi = 15 skenario. Format laporan: Mean +/- Std Deviation.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21208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Metrik Komprehensif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Accuracy, Precision, Recall, Metric Gap, F1, F2, ROC-AUC, PR-AUC, Confusion Matrix.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0000"/>
                </a:solidFill>
              </a:defRPr>
            </a:pPr>
            <a:r>
              <a:t>FASE 5: PENGUJIAN HOLD-OUT TEST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27432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0972800" cy="1188720"/>
          </a:xfrm>
          <a:prstGeom prst="roundRect">
            <a:avLst/>
          </a:prstGeom>
          <a:solidFill>
            <a:srgbClr val="ECF0F1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Pelatihan Final Stacking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Arsitektur Stacking dilatih ulang final dengan 100% data training.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Penerapan Threshold Klinis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Probabilitas dikonversi dengan threshold optimal F2-Score (BUKAN default 0.5).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10972800" cy="1188720"/>
          </a:xfrm>
          <a:prstGeom prst="roundRect">
            <a:avLst/>
          </a:prstGeom>
          <a:solidFill>
            <a:srgbClr val="ECF0F1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Evaluasi Performa Real-World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Verifikasi stabilitas: apakah performa drop pada data baru (indikasi overfitting)?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21208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Visualisasi: Confusion Matrix &amp; ROC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Membedah TP/FP/TN/FN. Memetakan daya diskriminasi model pada berbagai threshold.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0000"/>
                </a:solidFill>
              </a:defRPr>
            </a:pPr>
            <a:r>
              <a:t>FASE 6: EXPLAINABLE AI (SHAP) - DUAL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27432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2286000"/>
          </a:xfrm>
          <a:prstGeom prst="roundRect">
            <a:avLst/>
          </a:prstGeom>
          <a:solidFill>
            <a:srgbClr val="FDEDEC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</a:defRPr>
            </a:pPr>
            <a:r>
              <a:t>LAYER 1: Algorithmic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LinearExplainer pada Meta-Learner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Membedah kontribusi probabilitas setiap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base learner terhadap keputusan akhir.</a:t>
            </a:r>
          </a:p>
          <a:p>
            <a:pPr>
              <a:spcBef>
                <a:spcPts val="400"/>
              </a:spcBef>
              <a:defRPr sz="1100" b="1">
                <a:solidFill>
                  <a:srgbClr val="C0392B"/>
                </a:solidFill>
              </a:defRPr>
            </a:pPr>
            <a:r>
              <a:t>Output: Validasi arsitektur ensemble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03520" cy="2286000"/>
          </a:xfrm>
          <a:prstGeom prst="roundRect">
            <a:avLst/>
          </a:prstGeom>
          <a:solidFill>
            <a:srgbClr val="FEF9E7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</a:defRPr>
            </a:pPr>
            <a:r>
              <a:t>LAYER 2: Clinical Diagnostics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KernelExplainer (model-agnostic)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Global: Summary Plot (pola populasi)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Local: Waterfall Plot (per pasien)</a:t>
            </a:r>
          </a:p>
          <a:p>
            <a:pPr>
              <a:spcBef>
                <a:spcPts val="400"/>
              </a:spcBef>
              <a:defRPr sz="1100" b="1">
                <a:solidFill>
                  <a:srgbClr val="F39C12"/>
                </a:solidFill>
              </a:defRPr>
            </a:pPr>
            <a:r>
              <a:t>Output: Transparansi diagnosis klinis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0000"/>
                </a:solidFill>
              </a:defRPr>
            </a:pPr>
            <a:r>
              <a:t>Output Interpretasi: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1. Global Interpretation (Summary Plot) - Pola fitur klinis vs risiko stroke pada level populasi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2. Local Explanation (Waterfall Plot) - Justifikasi medis per individu pasien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3. Feature Ranking (Bar Plot) - Identifikasi fitur paling berpengaruh</a:t>
            </a:r>
          </a:p>
          <a:p>
            <a:pPr>
              <a:spcBef>
                <a:spcPts val="400"/>
              </a:spcBef>
              <a:defRPr sz="800" b="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defRPr sz="1000" b="0">
                <a:solidFill>
                  <a:srgbClr val="7F8C8D"/>
                </a:solidFill>
              </a:defRPr>
            </a:pPr>
            <a:r>
              <a:t>Referensi: Lu &amp; Qiu (2023); Moulaei et al. (2024); Kaya et al. (2026)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0000"/>
                </a:solidFill>
              </a:defRPr>
            </a:pPr>
            <a:r>
              <a:t>DAFTAR PUSTAKA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27432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[1] Feigin et al., "WSO: Global Stroke Fact Sheet 2022," Int. J. Stroke, 2022.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[2] Mridha et al., "Automated Stroke Prediction Using ML," IEEE Access, 2023.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[3] Rao et al., "Stroke Risk Assessment: Logistic-AdaBoost," CMES, 2023.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[4] Chen et al., "ML to Predict 90-day Prognosis in TIA," BMC Med Res, 2022.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[5] Byna et al., "Critical Review on Prediction Stroke Using ML," Bull. EEI, 2024.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[6] Ozkara et al., "Prediction of Functional Outcome in Stroke," J Clin Med, 2023.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[7] Amin &amp; Ilyas, "Comprehensive ML Framework for Stroke Risk," ICAIII, 2026.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[8] James et al., "Enhancing Stroke Prediction: Ensemble Learning," ICCCNT, 2024.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0000"/>
                </a:solidFill>
              </a:defRPr>
            </a:pPr>
            <a:r>
              <a:t>DAFTAR PUSTAKA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27432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[9] Abdelsamie, "Ensemble Deep Learning: State-Of-The-Art Review," JOISER, 2026.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[10] Barman et al., "Robust Brain Stroke Prediction via Ensemble ML," IEEE BECITHCON, 2025.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[11] Tahyudin et al., "Optimizing Stroke Mortality Prediction," TEM Journal, 2024.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[12] Kaya et al., "Explainable AI (XAI): Concepts &amp; Applications," IEEE Access, 2026.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[13] Abousaber, "Explainable Attention-Based Meta-Learning for Stroke," Sensors, 2025.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[14] Chawla et al., "SMOTE: Synthetic Minority Over-sampling Technique," JAIR, 2011.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</a:defRPr>
            </a:pPr>
            <a:r>
              <a:t>[15] Agrawal &amp; Sharma, "Significance of Explainable AI Models," Revue dIA, 2024.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1C40F"/>
                </a:solidFill>
              </a:defRPr>
            </a:pPr>
            <a:r>
              <a:t>Stiefanny Dwi Chandra | 103062300102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Program Studi Teknologi Informasi - Universitas Telkom Jakarta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39C12"/>
                </a:solidFill>
              </a:defRPr>
            </a:pPr>
            <a:r>
              <a:t>Apakah ada pertanyaan dari Bapak/Ibu Dosen?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